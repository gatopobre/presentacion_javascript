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Fredoka"/>
      <p:regular r:id="rId23"/>
      <p:bold r:id="rId24"/>
    </p:embeddedFont>
    <p:embeddedFont>
      <p:font typeface="Nun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redoka-bold.fntdata"/><Relationship Id="rId23" Type="http://schemas.openxmlformats.org/officeDocument/2006/relationships/font" Target="fonts/Fredok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5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33.png"/><Relationship Id="rId5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44.png"/><Relationship Id="rId5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17.png"/><Relationship Id="rId5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AA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09575"/>
            <a:ext cx="7620000" cy="60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35580" y="1019175"/>
            <a:ext cx="672084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rPr>
              <a:t>JavaScript Divertido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95600" y="317182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Nunito"/>
                <a:ea typeface="Nunito"/>
                <a:cs typeface="Nunito"/>
                <a:sym typeface="Nunito"/>
              </a:rPr>
              <a:t>¡Programación práctica para todos!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0" y="4029075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8630" y="3171825"/>
            <a:ext cx="1905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895350" y="2833687"/>
            <a:ext cx="6088260" cy="638175"/>
          </a:xfrm>
          <a:prstGeom prst="roundRect">
            <a:avLst>
              <a:gd fmla="val 17910" name="adj"/>
            </a:avLst>
          </a:prstGeom>
          <a:solidFill>
            <a:srgbClr val="FFFFFF"/>
          </a:solidFill>
          <a:ln cap="flat" cmpd="sng" w="190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428750" y="2976562"/>
            <a:ext cx="53643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1995: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Creado en solo 10 días por Brendan Eich.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895350" y="3614737"/>
            <a:ext cx="6088260" cy="638175"/>
          </a:xfrm>
          <a:prstGeom prst="roundRect">
            <a:avLst>
              <a:gd fmla="val 17910" name="adj"/>
            </a:avLst>
          </a:prstGeom>
          <a:solidFill>
            <a:srgbClr val="FFFFFF"/>
          </a:solidFill>
          <a:ln cap="flat" cmpd="sng" w="190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457325" y="3757612"/>
            <a:ext cx="53357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Netscape: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El navegador que lo empezó todo.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895350" y="4395787"/>
            <a:ext cx="6088260" cy="638175"/>
          </a:xfrm>
          <a:prstGeom prst="roundRect">
            <a:avLst>
              <a:gd fmla="val 17910" name="adj"/>
            </a:avLst>
          </a:prstGeom>
          <a:solidFill>
            <a:srgbClr val="FFFFFF"/>
          </a:solidFill>
          <a:ln cap="flat" cmpd="sng" w="190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428750" y="4538662"/>
            <a:ext cx="53643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ECMAScript: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El nombre "oficial" del estándar.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95350" y="3452812"/>
            <a:ext cx="608826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95350" y="4233862"/>
            <a:ext cx="608826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95350" y="5014912"/>
            <a:ext cx="608826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30289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3810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459105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1. Un Viaje en el Tiempo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524000"/>
            <a:ext cx="53911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24000"/>
            <a:ext cx="539115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59606" y="2447925"/>
            <a:ext cx="51006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Omnipresente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81050" y="28670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Corre en tu celular, tu laptop, e incluso en tu refrigerador inteligente.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31756" y="2447925"/>
            <a:ext cx="51006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Divertido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53200" y="28670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Puedes crear juegos, animaciones y páginas web interactivas.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7050" y="18383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3950" y="18383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2. ¿Por qué aprenderlo?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14350" y="2695575"/>
            <a:ext cx="6469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HTML son los huesos, JS son los músculos.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130" y="3171825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3. HTML + JS = Equipo Dinámico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2266950"/>
            <a:ext cx="646926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1730" y="3171825"/>
            <a:ext cx="1714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364610" y="2109787"/>
            <a:ext cx="452869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Guardando información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364610" y="2528887"/>
            <a:ext cx="431303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Usamos variables para almacenar datos y usarlos después.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4. Variables: Las Cajitas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14350" y="2276475"/>
            <a:ext cx="646926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problema de `var`: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¡Es chismoso! Se "escapa" de los bloques {} y causa errores raros.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14350" y="3114675"/>
            <a:ext cx="6469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La solución `let`: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Es ordenado. Respeta los límites de la cerca {}.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130" y="3171825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5. Batalla: var vs let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9630" y="3171825"/>
            <a:ext cx="1143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6. Matemáticas Simples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2266950"/>
            <a:ext cx="48958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5525" y="3171825"/>
            <a:ext cx="1333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91200" y="2767012"/>
            <a:ext cx="5886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Necesitamos "agarrar" elementos del HTML para modificarlos.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7. El Gancho: Selectores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3519487" y="285750"/>
            <a:ext cx="5410676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8. Pintando el DOM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3519487" y="981075"/>
            <a:ext cx="5153025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6787" y="4762500"/>
            <a:ext cx="26765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3519487" y="1504950"/>
            <a:ext cx="5153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¡Cambia el contenido en vivo!</a:t>
            </a:r>
            <a:endParaRPr/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" y="4762500"/>
            <a:ext cx="121158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14350" y="2809875"/>
            <a:ext cx="6469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Haz que tu página reaccione cuando el usuario hace algo.</a:t>
            </a:r>
            <a:endParaRPr/>
          </a:p>
        </p:txBody>
      </p:sp>
      <p:pic>
        <p:nvPicPr>
          <p:cNvPr descr="image.png" id="193" name="Google Shape;19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4380" y="3171825"/>
            <a:ext cx="1333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9. ¡Acción! Eventos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2266950"/>
            <a:ext cx="646926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2230" y="3171825"/>
            <a:ext cx="1333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7364610" y="2538412"/>
            <a:ext cx="431303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código toma caminos diferentes según la situación.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10. Decisiones: If / Else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14350" y="2695575"/>
            <a:ext cx="6469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Bloques de código reutilizables.</a:t>
            </a:r>
            <a:endParaRPr/>
          </a:p>
        </p:txBody>
      </p:sp>
      <p:pic>
        <p:nvPicPr>
          <p:cNvPr descr="image.png" id="213" name="Google Shape;2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8630" y="3171825"/>
            <a:ext cx="1905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11. La Fábrica de Funciones</a:t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52612"/>
            <a:ext cx="558165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4175" y="1852612"/>
            <a:ext cx="4543425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1054893" y="3548062"/>
            <a:ext cx="53006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Anónimas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1181100" y="3967162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¡Sin nombre! Útiles para acciones rápidas (callbacks).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6900624" y="3548062"/>
            <a:ext cx="421052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Flecha (Arrow)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7000875" y="3967162"/>
            <a:ext cx="4010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Sintaxis corta y limpia. Ideales para listas.</a:t>
            </a:r>
            <a:endParaRPr/>
          </a:p>
        </p:txBody>
      </p:sp>
      <p:pic>
        <p:nvPicPr>
          <p:cNvPr descr="image.png" id="227" name="Google Shape;22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8037" y="2357437"/>
            <a:ext cx="714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29637" y="235743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12. Funciones Modernas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2266950"/>
            <a:ext cx="646926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1730" y="3171825"/>
            <a:ext cx="1714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7364610" y="3109912"/>
            <a:ext cx="431303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Presiona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F12</a:t>
            </a: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. ¡Es donde hablan los desarrolladores!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13. Tu Centro de Mando</a:t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3486150" y="609600"/>
            <a:ext cx="548068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14. Cazando Bugs</a:t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3486150" y="1304925"/>
            <a:ext cx="52197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425" y="4419600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3486150" y="1828800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Usa la palabra clave debugger para congelar el tiempo.</a:t>
            </a:r>
            <a:endParaRPr/>
          </a:p>
        </p:txBody>
      </p:sp>
      <p:pic>
        <p:nvPicPr>
          <p:cNvPr descr="image.png" id="250" name="Google Shape;2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" y="4400550"/>
            <a:ext cx="1211580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610" y="2266950"/>
            <a:ext cx="431303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8"/>
          <p:cNvSpPr txBox="1"/>
          <p:nvPr/>
        </p:nvSpPr>
        <p:spPr>
          <a:xfrm>
            <a:off x="514350" y="2109787"/>
            <a:ext cx="6469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¡Unamos todo lo aprendido!</a:t>
            </a:r>
            <a:endParaRPr/>
          </a:p>
        </p:txBody>
      </p:sp>
      <p:pic>
        <p:nvPicPr>
          <p:cNvPr descr="image.png" id="258" name="Google Shape;25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4380" y="3171825"/>
            <a:ext cx="1333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514350" y="514350"/>
            <a:ext cx="11677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Fredoka"/>
                <a:ea typeface="Fredoka"/>
                <a:cs typeface="Fredoka"/>
                <a:sym typeface="Fredoka"/>
              </a:rPr>
              <a:t>15. Práctica: Contador de Clics</a:t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514350" y="1209675"/>
            <a:ext cx="11163300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AA7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838200"/>
            <a:ext cx="76200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/>
        </p:nvSpPr>
        <p:spPr>
          <a:xfrm>
            <a:off x="2735580" y="1447800"/>
            <a:ext cx="67208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rPr>
              <a:t>"Mejor ver en la práctica el uso de JavaScript"</a:t>
            </a:r>
            <a:endParaRPr/>
          </a:p>
        </p:txBody>
      </p:sp>
      <p:pic>
        <p:nvPicPr>
          <p:cNvPr descr="image.png" id="268" name="Google Shape;26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0650" y="3981450"/>
            <a:ext cx="1790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